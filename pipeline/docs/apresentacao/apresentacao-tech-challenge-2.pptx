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Esse projeto começou com uma pergunta simples: como saber se o Brasil está no caminho de alfabetizar todas as crianças até 2030? A resposta exige juntar várias fontes de dados públicas — e foi isso que construí aqui.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governo tem uma meta clara: todas as crianças alfabetizadas até o fim do 2º ano do fundamental, até 2030. O indicador oficial usa um corte de proficiência do SAEB. Mas medir isso de verdade exige cruzar metas, resultados por município e, opcionalmente, dados de infraestrutura escolar — informações que existem, mas estão espalhadas em bases diferentes.</a:t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extração parte da Base dos Dados, um datalake público hospedado no BigQuery do Google — de lá vêm tanto os dados de avaliação de alfabetização quanto os de infraestrutura escolar. Tudo isso é processado em Python e armazenado no Amazon S3, em três camadas: Bronze guarda o dado bruto, Silver traduz e enriquece, Gold entrega datasets prontos pra análise. Em paralelo, um broker Kafka rodando numa instância EC2 simula a chegada de dados em tempo real. No fim, o Glue Data Catalog registra o schema de cada tabela, e o Athena permite consultar tudo isso com SQL, sem precisar de nenhum servidor de banco de dados ligado o tempo todo.</a:t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Isso não ficou só no papel. A camada bruta processou quase 4 milhões de registros. No streaming, publiquei 300 eventos num dia e, no dia seguinte, sem nada rodando entre uma coisa e outra, o consumidor recuperou os 300 intactos — prova de que o Kafka realmente guarda o dado, não só transmite. E os dados finais respondem a consultas reais no Athena.</a:t>
            </a:r>
            <a:endParaRPr/>
          </a:p>
        </p:txBody>
      </p:sp>
      <p:sp>
        <p:nvSpPr>
          <p:cNvPr id="46" name="Google Shape;4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validação de qualidade não é só um checklist. Bronze e Silver registram problemas, mas deixam o pipeline seguir. Na camada Gold, decidi que qualquer inconsistência crítica trava tudo — e isso realmente aconteceu: um bug de duplicação de dado foi barrado automaticamente antes de chegar a qualquer análise.</a:t>
            </a:r>
            <a:endParaRPr/>
          </a:p>
        </p:txBody>
      </p:sp>
      <p:sp>
        <p:nvSpPr>
          <p:cNvPr id="61" name="Google Shape;6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Também acompanhei custo. Em determinado momento, o painel de gastos da AWS mostrou 4 dólares e alguns centavos — pouco, mas fora do esperado. Investigando, descobri que uma instância ficou ligada entre sessões de trabalho, sem necessidade. Parei ela manualmente e documentei uma automação de desligamento como próximo passo.</a:t>
            </a:r>
            <a:endParaRPr/>
          </a:p>
        </p:txBody>
      </p:sp>
      <p:sp>
        <p:nvSpPr>
          <p:cNvPr id="79" name="Google Shape;7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dados prontos na camada Gold já dariam base pra um modelo prever municípios em risco de não atingir a meta, agrupar regiões por padrão de desempenho, ou estimar que tipo de investimento em infraestrutura mais se relaciona com melhora nos resultados. Nada disso foi treinado aqui — mas o trabalho de preparar os dados, que é a parte mais difícil, já está pronto.</a:t>
            </a:r>
            <a:endParaRPr/>
          </a:p>
        </p:txBody>
      </p:sp>
      <p:sp>
        <p:nvSpPr>
          <p:cNvPr id="100" name="Google Shape;10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5c103f76c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f5c103f76c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dados prontos na camada Gold já dariam base pra um modelo prever municípios em risco de não atingir a meta, agrupar regiões por padrão de desempenho, ou estimar que tipo de investimento em infraestrutura mais se relaciona com melhora nos resultados. Nada disso foi treinado aqui — mas o trabalho de preparar os dados, que é a parte mais difícil, já está pronto.</a:t>
            </a:r>
            <a:endParaRPr/>
          </a:p>
        </p:txBody>
      </p:sp>
      <p:sp>
        <p:nvSpPr>
          <p:cNvPr id="122" name="Google Shape;122;g3f5c103f76c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fim, essa pipeline processa dado bruto até indicador pronto pra decisão, com custo controlado e qualidade validada de verdade. Boa parte do valor está nas decisões que mudaram de rumo — e isso está tudo documentado no repositório. Obrigado.</a:t>
            </a:r>
            <a:endParaRPr/>
          </a:p>
        </p:txBody>
      </p:sp>
      <p:sp>
        <p:nvSpPr>
          <p:cNvPr id="131" name="Google Shape;13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760720" y="-1828800"/>
            <a:ext cx="4937760" cy="4937760"/>
          </a:xfrm>
          <a:prstGeom prst="ellipse">
            <a:avLst/>
          </a:prstGeom>
          <a:solidFill>
            <a:srgbClr val="CADCFC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463040" y="3291840"/>
            <a:ext cx="2926080" cy="2926080"/>
          </a:xfrm>
          <a:prstGeom prst="ellipse">
            <a:avLst/>
          </a:prstGeom>
          <a:solidFill>
            <a:srgbClr val="CADCFC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31520" y="1600200"/>
            <a:ext cx="76809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Pi</a:t>
            </a: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peline Híbri</a:t>
            </a:r>
            <a:r>
              <a:rPr b="1"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 Para Análise </a:t>
            </a: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 alfabetização infantil </a:t>
            </a:r>
            <a:r>
              <a:rPr b="1"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 Brasil</a:t>
            </a: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0" y="324612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Tech Challenge Fase 2  ·  </a:t>
            </a:r>
            <a:r>
              <a:rPr i="1" lang="en-US" sz="16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Data Engineer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1524" y="4526275"/>
            <a:ext cx="215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Wesley </a:t>
            </a: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Carvalho de </a:t>
            </a: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Sousa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 problema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48640" y="1234440"/>
            <a:ext cx="3017520" cy="1417320"/>
          </a:xfrm>
          <a:prstGeom prst="roundRect">
            <a:avLst>
              <a:gd fmla="val 5161" name="adj"/>
            </a:avLst>
          </a:prstGeom>
          <a:solidFill>
            <a:srgbClr val="EE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548640" y="1325880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2030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85800" y="2084832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15A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meta do Compromisso Nacional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15A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Criança Alfabetizada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2880360"/>
            <a:ext cx="3017520" cy="1417320"/>
          </a:xfrm>
          <a:prstGeom prst="roundRect">
            <a:avLst>
              <a:gd fmla="val 5161" name="adj"/>
            </a:avLst>
          </a:prstGeom>
          <a:solidFill>
            <a:srgbClr val="EE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548640" y="2971800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743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85800" y="3730752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15A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pontos de corte no SAEB 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15A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define quem está alfabetizado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931920" y="1371600"/>
            <a:ext cx="4572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15A8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Avalia</a:t>
            </a:r>
            <a:r>
              <a:rPr lang="en-US" sz="1600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ção </a:t>
            </a:r>
            <a:r>
              <a:rPr b="0" i="0" lang="en-US" sz="1600" u="none" cap="none" strike="noStrike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exige cruzar metas nacionais, estaduais e municipais, resultados por município e, opcionalmente, indicadores de infraestrutura escolar.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931920" y="2788920"/>
            <a:ext cx="4572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15A8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Todas essas informações são públicas — mas vivem em bases diferentes, publicadas pela plataforma Base dos Dados.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931920" y="41605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5A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Fonte: Base dos Dados / INEP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Arquitetura da pipeline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Google Shape;42;p5" title="diagrama-arquitetura-app-diagram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75349"/>
            <a:ext cx="8823701" cy="368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Alguns resultados do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2920" y="1463040"/>
            <a:ext cx="2587752" cy="2468880"/>
          </a:xfrm>
          <a:prstGeom prst="roundRect">
            <a:avLst>
              <a:gd fmla="val 2963" name="adj"/>
            </a:avLst>
          </a:prstGeom>
          <a:solidFill>
            <a:srgbClr val="EE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502920" y="1783080"/>
            <a:ext cx="25877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3,9M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685800" y="2834640"/>
            <a:ext cx="22219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A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linhas processadas na camada bruta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3273552" y="1463040"/>
            <a:ext cx="2587752" cy="2468880"/>
          </a:xfrm>
          <a:prstGeom prst="roundRect">
            <a:avLst>
              <a:gd fmla="val 2963" name="adj"/>
            </a:avLst>
          </a:prstGeom>
          <a:solidFill>
            <a:srgbClr val="EE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3273552" y="1783080"/>
            <a:ext cx="25877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300/300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3456432" y="2834640"/>
            <a:ext cx="22219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A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eventos publicados e recuperados intactos um dia depois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044184" y="1463040"/>
            <a:ext cx="2587752" cy="2468880"/>
          </a:xfrm>
          <a:prstGeom prst="roundRect">
            <a:avLst>
              <a:gd fmla="val 2963" name="adj"/>
            </a:avLst>
          </a:prstGeom>
          <a:solidFill>
            <a:srgbClr val="EE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6044184" y="1783080"/>
            <a:ext cx="25877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6227064" y="2834640"/>
            <a:ext cx="22219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A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consulta real no Athena retorna dado por município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Data Quality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1188720" y="141732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5A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Bronze — </a:t>
            </a:r>
            <a:r>
              <a:rPr lang="en-US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alerta</a:t>
            </a:r>
            <a:r>
              <a:rPr b="0" i="0" lang="en-US" sz="1400" u="none" cap="none" strike="noStrike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, não bloqueia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1188720" y="21945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5A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Silver — </a:t>
            </a:r>
            <a:r>
              <a:rPr lang="en-US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alerta</a:t>
            </a:r>
            <a:r>
              <a:rPr b="0" i="0" lang="en-US" sz="1400" u="none" cap="none" strike="noStrike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, não bloqueia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1188720" y="29718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Gold — trava se crítico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4663440" y="1280160"/>
            <a:ext cx="3657600" cy="2880360"/>
          </a:xfrm>
          <a:prstGeom prst="roundRect">
            <a:avLst>
              <a:gd fmla="val 254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4892040" y="1508760"/>
            <a:ext cx="32004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[DQ:gold...] FAIL | Uniqueness | duplicidade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398 linhas duplicadas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Exception: pipeline interrompido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(estratégia fail-fast na Gold)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4892040" y="324612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interrompido automaticamente antes de qualquer dado duplicado chegar à Gold.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Também é preciso cuidar do custo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548640" y="1371600"/>
            <a:ext cx="2926080" cy="2834640"/>
          </a:xfrm>
          <a:prstGeom prst="roundRect">
            <a:avLst>
              <a:gd fmla="val 2581" name="adj"/>
            </a:avLst>
          </a:prstGeom>
          <a:solidFill>
            <a:srgbClr val="EE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8"/>
          <p:cNvSpPr/>
          <p:nvPr/>
        </p:nvSpPr>
        <p:spPr>
          <a:xfrm>
            <a:off x="548640" y="173736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$4,06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777240" y="269748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15A8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custo identificado no mês, via Cost Explorer e Budget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3794760" y="1371600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3794760" y="13716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2"/>
              <a:buFont typeface="Cambria"/>
              <a:buNone/>
            </a:pPr>
            <a:r>
              <a:rPr b="1" i="0" lang="en-US" sz="1012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0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4389120" y="13258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Informar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4389120" y="164592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A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Cost Explorer e Budget sinalizaram o gasto automaticamente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3794760" y="2286000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8"/>
          <p:cNvSpPr/>
          <p:nvPr/>
        </p:nvSpPr>
        <p:spPr>
          <a:xfrm>
            <a:off x="3794760" y="22860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2"/>
              <a:buFont typeface="Cambria"/>
              <a:buNone/>
            </a:pPr>
            <a:r>
              <a:rPr b="1" i="0" lang="en-US" sz="1012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0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4389120" y="22402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Otimizar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4389120" y="256032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A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Causa raiz: instância ligada sem necessidade entre sessões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3794760" y="3200400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"/>
          <p:cNvSpPr/>
          <p:nvPr/>
        </p:nvSpPr>
        <p:spPr>
          <a:xfrm>
            <a:off x="3794760" y="32004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12"/>
              <a:buFont typeface="Cambria"/>
              <a:buNone/>
            </a:pPr>
            <a:r>
              <a:rPr b="1" i="0" lang="en-US" sz="1012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0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4389120" y="31546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Operar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4389120" y="3474720"/>
            <a:ext cx="4114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A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Próximo passo: desligamento automático por inatividade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 que a camada Gold já viabiliza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548640" y="1371600"/>
            <a:ext cx="8046720" cy="868680"/>
          </a:xfrm>
          <a:prstGeom prst="roundRect">
            <a:avLst>
              <a:gd fmla="val 8421" name="adj"/>
            </a:avLst>
          </a:prstGeom>
          <a:solidFill>
            <a:srgbClr val="EE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9"/>
          <p:cNvSpPr/>
          <p:nvPr/>
        </p:nvSpPr>
        <p:spPr>
          <a:xfrm>
            <a:off x="777240" y="1591056"/>
            <a:ext cx="438912" cy="43891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9"/>
          <p:cNvSpPr/>
          <p:nvPr/>
        </p:nvSpPr>
        <p:spPr>
          <a:xfrm>
            <a:off x="777240" y="159105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6"/>
              <a:buFont typeface="Cambria"/>
              <a:buNone/>
            </a:pPr>
            <a:r>
              <a:rPr b="1" i="0" lang="en-US" sz="1056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1417320" y="146304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Previsão de risco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4251960" y="1463040"/>
            <a:ext cx="4160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A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Modelo prevendo municípios com risco de não atingir a meta de 2030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548640" y="2395728"/>
            <a:ext cx="8046720" cy="868680"/>
          </a:xfrm>
          <a:prstGeom prst="roundRect">
            <a:avLst>
              <a:gd fmla="val 8421" name="adj"/>
            </a:avLst>
          </a:prstGeom>
          <a:solidFill>
            <a:srgbClr val="EE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"/>
          <p:cNvSpPr/>
          <p:nvPr/>
        </p:nvSpPr>
        <p:spPr>
          <a:xfrm>
            <a:off x="777240" y="2615184"/>
            <a:ext cx="438912" cy="43891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"/>
          <p:cNvSpPr/>
          <p:nvPr/>
        </p:nvSpPr>
        <p:spPr>
          <a:xfrm>
            <a:off x="777240" y="261518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6"/>
              <a:buFont typeface="Cambria"/>
              <a:buNone/>
            </a:pPr>
            <a:r>
              <a:rPr b="1" i="0" lang="en-US" sz="1056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1417320" y="2487168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Padrões de desempenho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4251960" y="2487168"/>
            <a:ext cx="4160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A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Agrupamento de municípios revelando desigualdade regional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548640" y="3419856"/>
            <a:ext cx="8046720" cy="868680"/>
          </a:xfrm>
          <a:prstGeom prst="roundRect">
            <a:avLst>
              <a:gd fmla="val 8421" name="adj"/>
            </a:avLst>
          </a:prstGeom>
          <a:solidFill>
            <a:srgbClr val="EEF2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"/>
          <p:cNvSpPr/>
          <p:nvPr/>
        </p:nvSpPr>
        <p:spPr>
          <a:xfrm>
            <a:off x="777240" y="3639312"/>
            <a:ext cx="438912" cy="43891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"/>
          <p:cNvSpPr/>
          <p:nvPr/>
        </p:nvSpPr>
        <p:spPr>
          <a:xfrm>
            <a:off x="777240" y="363931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6"/>
              <a:buFont typeface="Cambria"/>
              <a:buNone/>
            </a:pPr>
            <a:r>
              <a:rPr b="1" i="0" lang="en-US" sz="1056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417320" y="3511296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Investimento x resultado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4251960" y="3511296"/>
            <a:ext cx="4160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A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Estimativa de qual tipo de investimento mais se relaciona com melhora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5A80"/>
              </a:buClr>
              <a:buSzPts val="1200"/>
              <a:buFont typeface="Calibri"/>
              <a:buNone/>
            </a:pPr>
            <a:r>
              <a:rPr b="0" i="1" lang="en-US" sz="1000" u="none" cap="none" strike="noStrike">
                <a:solidFill>
                  <a:srgbClr val="515A80"/>
                </a:solidFill>
                <a:latin typeface="Calibri"/>
                <a:ea typeface="Calibri"/>
                <a:cs typeface="Calibri"/>
                <a:sym typeface="Calibri"/>
              </a:rPr>
              <a:t>Nenhum modelo foi treinado neste projeto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"/>
          <p:cNvSpPr/>
          <p:nvPr/>
        </p:nvSpPr>
        <p:spPr>
          <a:xfrm>
            <a:off x="548640" y="365760"/>
            <a:ext cx="804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Evidências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825" y="848975"/>
            <a:ext cx="6255276" cy="227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0" title="s3-organizaca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625" y="3384925"/>
            <a:ext cx="6522252" cy="162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0" title="cost-explorer-summar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8396" y="848971"/>
            <a:ext cx="5560850" cy="26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/>
          <p:nvPr/>
        </p:nvSpPr>
        <p:spPr>
          <a:xfrm>
            <a:off x="-1645920" y="-1645920"/>
            <a:ext cx="4206240" cy="4206240"/>
          </a:xfrm>
          <a:prstGeom prst="ellipse">
            <a:avLst/>
          </a:prstGeom>
          <a:solidFill>
            <a:srgbClr val="CADCFC">
              <a:alpha val="1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1"/>
          <p:cNvSpPr/>
          <p:nvPr/>
        </p:nvSpPr>
        <p:spPr>
          <a:xfrm>
            <a:off x="731520" y="173736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Obrigado!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731520" y="416052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github.com/wesleycsousa/ai-scentist-tech-challenge-2-data-engineering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